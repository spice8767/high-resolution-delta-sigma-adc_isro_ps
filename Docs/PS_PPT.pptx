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8107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INTER-IIT TECH MEET 15.0  ·  VLSI DESIGN TRACK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21792" y="210312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High-Resolution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Delta-Sigma ADC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From First-Order Modulator to a Validated Simulink Model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4526280"/>
            <a:ext cx="1920240" cy="0"/>
          </a:xfrm>
          <a:prstGeom prst="line">
            <a:avLst/>
          </a:prstGeom>
          <a:noFill/>
          <a:ln w="25400">
            <a:solidFill>
              <a:srgbClr val="F28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Walkthrough &amp; Simulation Results  —  July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DELTA-SIGMA ADC  —  MOCK INTER-IIT TECH MEET 15.0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Problem Statement Asked For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first-order, single-bit Delta-Sigma ADC — modulator + digital decimation filter — for slow-varying, high-resolution sensor channels.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310896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468880"/>
            <a:ext cx="731520" cy="731520"/>
          </a:xfrm>
          <a:prstGeom prst="ellipse">
            <a:avLst/>
          </a:prstGeom>
          <a:solidFill>
            <a:srgbClr val="3F3F46"/>
          </a:solidFill>
          <a:ln/>
        </p:spPr>
      </p:sp>
      <p:pic>
        <p:nvPicPr>
          <p:cNvPr id="7" name="Image 0" descr="/home/claude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998" y="256397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4472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 Order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40233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Single-bit modulator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10712" y="2148840"/>
            <a:ext cx="2606040" cy="310896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7972" y="2468880"/>
            <a:ext cx="731520" cy="731520"/>
          </a:xfrm>
          <a:prstGeom prst="ellipse">
            <a:avLst/>
          </a:prstGeom>
          <a:solidFill>
            <a:srgbClr val="3F3F46"/>
          </a:solidFill>
          <a:ln/>
        </p:spPr>
      </p:sp>
      <p:pic>
        <p:nvPicPr>
          <p:cNvPr id="12" name="Image 1" descr="/home/claude/icons/sli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070" y="256397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4472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– 256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593592" y="40233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 Ratio (OSR)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72784" y="2148840"/>
            <a:ext cx="2606040" cy="310896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10044" y="2468880"/>
            <a:ext cx="731520" cy="731520"/>
          </a:xfrm>
          <a:prstGeom prst="ellipse">
            <a:avLst/>
          </a:prstGeom>
          <a:solidFill>
            <a:srgbClr val="3F3F46"/>
          </a:solidFill>
          <a:ln/>
        </p:spPr>
      </p:sp>
      <p:pic>
        <p:nvPicPr>
          <p:cNvPr id="17" name="Image 2" descr="/home/claude/icon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5142" y="2563978"/>
            <a:ext cx="541325" cy="5413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9944" y="34472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– 2 kSPS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455664" y="40233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output data rate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134856" y="2148840"/>
            <a:ext cx="2606040" cy="310896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72116" y="2468880"/>
            <a:ext cx="731520" cy="731520"/>
          </a:xfrm>
          <a:prstGeom prst="ellipse">
            <a:avLst/>
          </a:prstGeom>
          <a:solidFill>
            <a:srgbClr val="3F3F46"/>
          </a:solidFill>
          <a:ln/>
        </p:spPr>
      </p:sp>
      <p:pic>
        <p:nvPicPr>
          <p:cNvPr id="22" name="Image 3" descr="/home/claude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7214" y="2563978"/>
            <a:ext cx="541325" cy="5413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4472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– 12 bit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9317736" y="40233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ENOB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48640" y="550468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job: turn these constraints into a working, verified MATLAB/Simulink design.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DELTA-SIGMA ADC  —  MOCK INTER-IIT TECH MEET 15.0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at a Glance — Three Building Blocks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42062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3520440" cy="54864"/>
          </a:xfrm>
          <a:prstGeom prst="roundRect">
            <a:avLst/>
          </a:prstGeom>
          <a:solidFill>
            <a:srgbClr val="F2853A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737360"/>
            <a:ext cx="621792" cy="621792"/>
          </a:xfrm>
          <a:prstGeom prst="ellipse">
            <a:avLst/>
          </a:prstGeom>
          <a:solidFill>
            <a:srgbClr val="3F3F46"/>
          </a:solidFill>
          <a:ln/>
        </p:spPr>
      </p:sp>
      <p:pic>
        <p:nvPicPr>
          <p:cNvPr id="7" name="Image 0" descr="/home/claude/icons/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81" y="1818193"/>
            <a:ext cx="460126" cy="4601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63240" y="170992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4D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41248" y="2532888"/>
            <a:ext cx="2935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Delta-Sigma Modulator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1248" y="3108960"/>
            <a:ext cx="293522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→ Discrete Integrator → 1-bit Comparator, closed with a unity-gain 1-bit DAC feedback path. Produces the oversampled bitstream.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87368" y="32461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61688" y="1417320"/>
            <a:ext cx="3520440" cy="42062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1688" y="1417320"/>
            <a:ext cx="3520440" cy="54864"/>
          </a:xfrm>
          <a:prstGeom prst="roundRect">
            <a:avLst/>
          </a:prstGeom>
          <a:solidFill>
            <a:srgbClr val="F2853A"/>
          </a:solidFill>
          <a:ln/>
        </p:spPr>
      </p:sp>
      <p:sp>
        <p:nvSpPr>
          <p:cNvPr id="14" name="Shape 11"/>
          <p:cNvSpPr/>
          <p:nvPr/>
        </p:nvSpPr>
        <p:spPr>
          <a:xfrm>
            <a:off x="4654296" y="1737360"/>
            <a:ext cx="621792" cy="621792"/>
          </a:xfrm>
          <a:prstGeom prst="ellipse">
            <a:avLst/>
          </a:prstGeom>
          <a:solidFill>
            <a:srgbClr val="3F3F46"/>
          </a:solidFill>
          <a:ln/>
        </p:spPr>
      </p:sp>
      <p:pic>
        <p:nvPicPr>
          <p:cNvPr id="15" name="Image 1" descr="/home/claude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129" y="1818193"/>
            <a:ext cx="460126" cy="46012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76288" y="170992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4D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654296" y="2532888"/>
            <a:ext cx="2935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 Decimation Filter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654296" y="3108960"/>
            <a:ext cx="293522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Integrator Cascade + Zero-Order Hold + 3-stage Comb Cascade. Multiplier-free, hardware-realizable noise removal &amp; down-sampling.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900416" y="32461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8174736" y="1417320"/>
            <a:ext cx="3520440" cy="42062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74736" y="1417320"/>
            <a:ext cx="3520440" cy="54864"/>
          </a:xfrm>
          <a:prstGeom prst="roundRect">
            <a:avLst/>
          </a:prstGeom>
          <a:solidFill>
            <a:srgbClr val="F2853A"/>
          </a:solidFill>
          <a:ln/>
        </p:spPr>
      </p:sp>
      <p:sp>
        <p:nvSpPr>
          <p:cNvPr id="22" name="Shape 18"/>
          <p:cNvSpPr/>
          <p:nvPr/>
        </p:nvSpPr>
        <p:spPr>
          <a:xfrm>
            <a:off x="8467344" y="1737360"/>
            <a:ext cx="621792" cy="621792"/>
          </a:xfrm>
          <a:prstGeom prst="ellipse">
            <a:avLst/>
          </a:prstGeom>
          <a:solidFill>
            <a:srgbClr val="3F3F46"/>
          </a:solidFill>
          <a:ln/>
        </p:spPr>
      </p:sp>
      <p:pic>
        <p:nvPicPr>
          <p:cNvPr id="23" name="Image 2" descr="/home/claude/icons/bar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177" y="1818193"/>
            <a:ext cx="460126" cy="46012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689336" y="170992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4D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8467344" y="2532888"/>
            <a:ext cx="2935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467344" y="3108960"/>
            <a:ext cx="293522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FFT of the decimated output extracts fundamental &amp; noise power → SNR and ENOB, verified against theory.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signal enters the modulator; the bitstream is filtered &amp; decimated by the CIC filter; the analysis stage closes the loop with measured SNR/ENOB.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DELTA-SIGMA ADC  —  MOCK INTER-IIT TECH MEET 15.0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First-Order Delta-Sigma Modulator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60520" cy="44805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09928"/>
            <a:ext cx="329184" cy="329184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09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16736" y="164592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Node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16736" y="2020824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minus DAC feedback → error signal x[n].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761488"/>
            <a:ext cx="329184" cy="329184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61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16736" y="269748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Discrete-Time Integrator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3072384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K·Ts /(z−1) accumulator — y[n]=y[n−1]+x[n−1].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813048"/>
            <a:ext cx="329184" cy="329184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13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16736" y="374904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Quantizer (Relay)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16736" y="4123944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with output levels ±1, clocked at fs.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864608"/>
            <a:ext cx="329184" cy="329184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64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16736" y="480060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Unity-Gain DAC Feedback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5175504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Inherently linear 2-level feedback closes the loop.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1600200"/>
            <a:ext cx="6583680" cy="4160520"/>
          </a:xfrm>
          <a:prstGeom prst="roundRect">
            <a:avLst>
              <a:gd name="adj" fmla="val 1538"/>
            </a:avLst>
          </a:prstGeom>
          <a:solidFill>
            <a:srgbClr val="2A2A2D"/>
          </a:solidFill>
          <a:ln w="12700">
            <a:solidFill>
              <a:srgbClr val="2A2A2D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03520" y="17830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Realization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03520" y="2971800"/>
            <a:ext cx="960120" cy="914400"/>
          </a:xfrm>
          <a:prstGeom prst="roundRect">
            <a:avLst>
              <a:gd name="adj" fmla="val 8000"/>
            </a:avLst>
          </a:prstGeom>
          <a:solidFill>
            <a:srgbClr val="45454A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2971800"/>
            <a:ext cx="960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x(t)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64808" y="2971800"/>
            <a:ext cx="868680" cy="914400"/>
          </a:xfrm>
          <a:prstGeom prst="roundRect">
            <a:avLst>
              <a:gd name="adj" fmla="val 8421"/>
            </a:avLst>
          </a:prstGeom>
          <a:solidFill>
            <a:srgbClr val="4545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2971800"/>
            <a:ext cx="868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34656" y="29718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45454A"/>
          </a:solidFill>
          <a:ln/>
        </p:spPr>
      </p:sp>
      <p:sp>
        <p:nvSpPr>
          <p:cNvPr id="28" name="Text 26"/>
          <p:cNvSpPr/>
          <p:nvPr/>
        </p:nvSpPr>
        <p:spPr>
          <a:xfrm>
            <a:off x="7534656" y="297180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K·Ts/(z−1)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244584" y="29718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45454A"/>
          </a:solidFill>
          <a:ln/>
        </p:spPr>
      </p:sp>
      <p:sp>
        <p:nvSpPr>
          <p:cNvPr id="30" name="Text 28"/>
          <p:cNvSpPr/>
          <p:nvPr/>
        </p:nvSpPr>
        <p:spPr>
          <a:xfrm>
            <a:off x="9244584" y="29718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Q.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543032" y="29718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2853A"/>
          </a:solidFill>
          <a:ln/>
        </p:spPr>
      </p:sp>
      <p:sp>
        <p:nvSpPr>
          <p:cNvPr id="32" name="Text 30"/>
          <p:cNvSpPr/>
          <p:nvPr/>
        </p:nvSpPr>
        <p:spPr>
          <a:xfrm>
            <a:off x="10543032" y="29718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v[n]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Bitstream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3429000"/>
            <a:ext cx="201168" cy="0"/>
          </a:xfrm>
          <a:prstGeom prst="line">
            <a:avLst/>
          </a:prstGeom>
          <a:noFill/>
          <a:ln w="19050">
            <a:solidFill>
              <a:srgbClr val="9A9AA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333488" y="3429000"/>
            <a:ext cx="201168" cy="0"/>
          </a:xfrm>
          <a:prstGeom prst="line">
            <a:avLst/>
          </a:prstGeom>
          <a:noFill/>
          <a:ln w="19050">
            <a:solidFill>
              <a:srgbClr val="9A9AA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43416" y="3429000"/>
            <a:ext cx="201168" cy="0"/>
          </a:xfrm>
          <a:prstGeom prst="line">
            <a:avLst/>
          </a:prstGeom>
          <a:noFill/>
          <a:ln w="19050">
            <a:solidFill>
              <a:srgbClr val="9A9AA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341864" y="3429000"/>
            <a:ext cx="201168" cy="0"/>
          </a:xfrm>
          <a:prstGeom prst="line">
            <a:avLst/>
          </a:prstGeom>
          <a:noFill/>
          <a:ln w="19050">
            <a:solidFill>
              <a:srgbClr val="9A9AA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1160252" y="3886200"/>
            <a:ext cx="0" cy="594360"/>
          </a:xfrm>
          <a:prstGeom prst="line">
            <a:avLst/>
          </a:prstGeom>
          <a:noFill/>
          <a:ln w="19050">
            <a:solidFill>
              <a:srgbClr val="F285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99148" y="4480560"/>
            <a:ext cx="4261104" cy="0"/>
          </a:xfrm>
          <a:prstGeom prst="line">
            <a:avLst/>
          </a:prstGeom>
          <a:noFill/>
          <a:ln w="19050">
            <a:solidFill>
              <a:srgbClr val="F285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99148" y="3886200"/>
            <a:ext cx="0" cy="594360"/>
          </a:xfrm>
          <a:prstGeom prst="line">
            <a:avLst/>
          </a:prstGeom>
          <a:noFill/>
          <a:ln w="19050">
            <a:solidFill>
              <a:srgbClr val="F2853A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5303520" y="45537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DAC Feedback (unity gain)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303520" y="504748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choice: input amplitude backed off ~6 dBFS below full scale to keep the loop stable and avoid integrator overload.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DELTA-SIGMA ADC  —  MOCK INTER-IIT TECH MEET 15.0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 Decimation Filter — Our Simulink Realization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3335274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5" name="Image 0" descr="/mnt/user-data/uploads/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508760"/>
            <a:ext cx="9509760" cy="30609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825746"/>
            <a:ext cx="73152" cy="1188720"/>
          </a:xfrm>
          <a:prstGeom prst="roundRect">
            <a:avLst/>
          </a:prstGeom>
          <a:solidFill>
            <a:srgbClr val="F2853A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770882"/>
            <a:ext cx="3319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Integrator Cascade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" y="5136642"/>
            <a:ext cx="3319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cascaded accumulator (1/(1−z⁻¹)) stages at the high rate fs — order K = 3.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61688" y="4825746"/>
            <a:ext cx="73152" cy="1188720"/>
          </a:xfrm>
          <a:prstGeom prst="roundRect">
            <a:avLst/>
          </a:prstGeom>
          <a:solidFill>
            <a:srgbClr val="F2853A"/>
          </a:solidFill>
          <a:ln/>
        </p:spPr>
      </p:sp>
      <p:sp>
        <p:nvSpPr>
          <p:cNvPr id="10" name="Text 7"/>
          <p:cNvSpPr/>
          <p:nvPr/>
        </p:nvSpPr>
        <p:spPr>
          <a:xfrm>
            <a:off x="4562856" y="4770882"/>
            <a:ext cx="3319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Zero-Order Hold + ÷M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62856" y="5136642"/>
            <a:ext cx="3319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&amp; down-samples by the decimation factor M = OSR before the comb stages.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74736" y="4825746"/>
            <a:ext cx="73152" cy="1188720"/>
          </a:xfrm>
          <a:prstGeom prst="roundRect">
            <a:avLst/>
          </a:prstGeom>
          <a:solidFill>
            <a:srgbClr val="F2853A"/>
          </a:solidFill>
          <a:ln/>
        </p:spPr>
      </p:sp>
      <p:sp>
        <p:nvSpPr>
          <p:cNvPr id="13" name="Text 10"/>
          <p:cNvSpPr/>
          <p:nvPr/>
        </p:nvSpPr>
        <p:spPr>
          <a:xfrm>
            <a:off x="8375904" y="4770882"/>
            <a:ext cx="3319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 Cascade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75904" y="5136642"/>
            <a:ext cx="3319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cascaded differentiator ((1−z⁻ᴹ)) stages at the reduced rate — adders &amp; delays only, no multipliers.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DELTA-SIGMA ADC  —  MOCK INTER-IIT TECH MEET 15.0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ADC Chain — End-to-End Simulink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2836469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5" name="Image 0" descr="/mnt/user-data/uploads/591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508760"/>
            <a:ext cx="8778240" cy="25621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445813"/>
            <a:ext cx="128016" cy="128016"/>
          </a:xfrm>
          <a:prstGeom prst="ellipse">
            <a:avLst/>
          </a:prstGeom>
          <a:solidFill>
            <a:srgbClr val="F2853A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4317797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 Wave source drives the Sigma-Delta Modulator (SUM → K·Ts/(z−1) integrator → Relay quantizer → feedback).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957877"/>
            <a:ext cx="128016" cy="128016"/>
          </a:xfrm>
          <a:prstGeom prst="ellipse">
            <a:avLst/>
          </a:prstGeom>
          <a:solidFill>
            <a:srgbClr val="F2853A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4829861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Modulator bitstream feeds directly into the CIC Filter subsystem for noise removal and decimation.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469941"/>
            <a:ext cx="128016" cy="128016"/>
          </a:xfrm>
          <a:prstGeom prst="ellipse">
            <a:avLst/>
          </a:prstGeom>
          <a:solidFill>
            <a:srgbClr val="F2853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5341925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Spectrum Analyzers tap the bitstream and filtered output; a 4-trace Scope records the full signal chain.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DELTA-SIGMA ADC  —  MOCK INTER-IIT TECH MEET 15.0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VERIFICATION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Our Design Meet the Spec? — The Math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point:  </a:t>
            </a: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= 128 kHz    ·    target output data rate fodr = 1000 SPS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29968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Oversampling Ratio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487168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F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OSR = f</a:t>
            </a:r>
            <a:r>
              <a:rPr lang="en-US" sz="1600" i="1" baseline="-40000" dirty="0">
                <a:solidFill>
                  <a:srgbClr val="3F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1600" i="1" dirty="0">
                <a:solidFill>
                  <a:srgbClr val="3F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f</a:t>
            </a:r>
            <a:r>
              <a:rPr lang="en-US" sz="1600" i="1" baseline="-40000" dirty="0">
                <a:solidFill>
                  <a:srgbClr val="3F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9260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128,000 / 1,000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3364992"/>
            <a:ext cx="3008376" cy="0"/>
          </a:xfrm>
          <a:prstGeom prst="line">
            <a:avLst/>
          </a:prstGeom>
          <a:noFill/>
          <a:ln w="9525">
            <a:solidFill>
              <a:srgbClr val="D4D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493008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8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OSR = 128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61688" y="1828800"/>
            <a:ext cx="3520440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029968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Predicted SNR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450592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3F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SNR</a:t>
            </a:r>
            <a:r>
              <a:rPr lang="en-US" sz="1500" i="1" baseline="-40000" dirty="0">
                <a:solidFill>
                  <a:srgbClr val="3F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r>
              <a:rPr lang="en-US" sz="1500" i="1" dirty="0">
                <a:solidFill>
                  <a:srgbClr val="3F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≈ 6.02+1.76−5.17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3F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+ 30·log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i="1" baseline="-40000" dirty="0">
                <a:solidFill>
                  <a:srgbClr val="3F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r>
              <a:rPr lang="en-US" sz="1500" i="1" dirty="0">
                <a:solidFill>
                  <a:srgbClr val="3F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(OSR)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3127248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2.61 + 30·log₁₀(128) = 2.61 + 63.22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17720" y="3493008"/>
            <a:ext cx="3008376" cy="0"/>
          </a:xfrm>
          <a:prstGeom prst="line">
            <a:avLst/>
          </a:prstGeom>
          <a:noFill/>
          <a:ln w="9525">
            <a:solidFill>
              <a:srgbClr val="D4D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3602736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8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SNR ≈ 65.83 dB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74736" y="1828800"/>
            <a:ext cx="3520440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30768" y="2029968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Effective Bits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2487168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F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ENOB = (SNR</a:t>
            </a:r>
            <a:r>
              <a:rPr lang="en-US" sz="1600" i="1" baseline="-40000" dirty="0">
                <a:solidFill>
                  <a:srgbClr val="3F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r>
              <a:rPr lang="en-US" sz="1600" i="1" dirty="0">
                <a:solidFill>
                  <a:srgbClr val="3F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− 1.76)/6.02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30768" y="29260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(65.83 − 1.76) / 6.02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430768" y="3364992"/>
            <a:ext cx="3008376" cy="0"/>
          </a:xfrm>
          <a:prstGeom prst="line">
            <a:avLst/>
          </a:prstGeom>
          <a:noFill/>
          <a:ln w="9525">
            <a:solidFill>
              <a:srgbClr val="D4D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0768" y="3493008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8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ENOB ≈ 10.64 bits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48640" y="4690872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18181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690872"/>
            <a:ext cx="104241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5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 = 128 sits inside the 64–256 window, and the predicted ENOB ≈ 10.64 bits falls inside the 10–12 bit target — </a:t>
            </a:r>
            <a:r>
              <a:rPr lang="en-US" sz="1500" b="1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chosen operating point satisfies every problem-statement constraint.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DELTA-SIGMA ADC  —  MOCK INTER-IIT TECH MEET 15.0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VALIDATION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OSR Sweep — From Trials to Final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didn’t stop at hand-calculation — we swept OSR across the full 64–256 range in Simulink and measured SNR/ENOB directly from the FFT of each decimated output.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468880" y="19202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f_out (SPS)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SNR (dB)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0" y="1920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ENOB (bits)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966960" y="19202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8716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468880" y="248716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37760" y="248716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56.88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0" y="24871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9.16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966960" y="248716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054096"/>
            <a:ext cx="11064240" cy="566928"/>
          </a:xfrm>
          <a:prstGeom prst="rect">
            <a:avLst/>
          </a:prstGeom>
          <a:solidFill>
            <a:srgbClr val="F1F1F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5409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468880" y="305409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1,333.3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937760" y="30540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63.21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772400" y="305409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10.21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966960" y="305409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3621024"/>
            <a:ext cx="11064240" cy="566928"/>
          </a:xfrm>
          <a:prstGeom prst="rect">
            <a:avLst/>
          </a:prstGeom>
          <a:solidFill>
            <a:srgbClr val="FCE7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621024"/>
            <a:ext cx="73152" cy="566928"/>
          </a:xfrm>
          <a:prstGeom prst="rect">
            <a:avLst/>
          </a:prstGeom>
          <a:solidFill>
            <a:srgbClr val="F2853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62102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2468880" y="362102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937760" y="362102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67.48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772400" y="362102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10.92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966960" y="3621024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Our design point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48640" y="4187952"/>
            <a:ext cx="11064240" cy="566928"/>
          </a:xfrm>
          <a:prstGeom prst="rect">
            <a:avLst/>
          </a:prstGeom>
          <a:solidFill>
            <a:srgbClr val="F1F1F3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18795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2468880" y="418795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666.7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937760" y="418795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72.18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772400" y="418795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11.70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966960" y="418795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548640" y="4754880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75488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2468880" y="47548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4937760" y="47548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75.28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7772400" y="47548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12.21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9966960" y="475488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548640" y="5321808"/>
            <a:ext cx="11064240" cy="0"/>
          </a:xfrm>
          <a:prstGeom prst="line">
            <a:avLst/>
          </a:prstGeom>
          <a:noFill/>
          <a:ln w="12700">
            <a:solidFill>
              <a:srgbClr val="D4D4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55778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8181B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" y="557784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theory:  </a:t>
            </a: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rises ≈ 9–10 dB per octave of OSR (≈ 30 dB/decade) — the same law as our first-order noise-shaping prediction.
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OSR = 128:  </a:t>
            </a: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ENOB ≈ 10.64 bits vs measured 10.92 bits — within 0.3 bit, confirming the design math.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DELTA-SIGMA ADC  —  MOCK INTER-IIT TECH MEET 15.0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VALIDATION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 Filter Order — Why K = 3?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OSR held fixed at 128, we also swept the CIC filter degree (K = 1, 2, 3) to check how much resolution each extra integrator/comb stage actually buys us.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 Degree (K)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560320" y="19202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OSR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663440" y="19202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SNR (dB)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223760" y="192024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ENOB (bits)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0" y="19202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8716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560320" y="24871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63440" y="248716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37.75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223760" y="248716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5.98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0" y="248716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054096"/>
            <a:ext cx="11064240" cy="566928"/>
          </a:xfrm>
          <a:prstGeom prst="rect">
            <a:avLst/>
          </a:prstGeom>
          <a:solidFill>
            <a:srgbClr val="F1F1F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5409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560320" y="305409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663440" y="305409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64.76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305409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10.47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0" y="305409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3621024"/>
            <a:ext cx="11064240" cy="566928"/>
          </a:xfrm>
          <a:prstGeom prst="rect">
            <a:avLst/>
          </a:prstGeom>
          <a:solidFill>
            <a:srgbClr val="FCE7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621024"/>
            <a:ext cx="73152" cy="566928"/>
          </a:xfrm>
          <a:prstGeom prst="rect">
            <a:avLst/>
          </a:prstGeom>
          <a:solidFill>
            <a:srgbClr val="F2853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621024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2560320" y="362102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663440" y="362102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67.28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223760" y="362102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10.88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144000" y="362102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Our design point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48640" y="4187952"/>
            <a:ext cx="11064240" cy="0"/>
          </a:xfrm>
          <a:prstGeom prst="line">
            <a:avLst/>
          </a:prstGeom>
          <a:noFill/>
          <a:ln w="12700">
            <a:solidFill>
              <a:srgbClr val="D4D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507992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18181B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4507992"/>
            <a:ext cx="10424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returns, confirmed:  </a:t>
            </a: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 → 2 adds +4.49 bits of ENOB — a huge jump. K = 2 → 3 adds only +0.41 bit.
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stop at K = 3:  </a:t>
            </a: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already clears our 10–12 bit ENOB target (10.88 bits), so a 4th stage would add hardware cost for negligible extra resolution.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DELTA-SIGMA ADC  —  MOCK INTER-IIT TECH MEET 15.0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with a Constant (DC) Input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0807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5" name="Image 0" descr="/mnt/user-data/uploads/591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5806440" cy="30991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148072"/>
            <a:ext cx="5806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input · bitstream · 1-bit output · decimated output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12280" y="1417320"/>
            <a:ext cx="4828032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8" name="Image 1" descr="/mnt/user-data/uploads/5913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527048"/>
            <a:ext cx="4608576" cy="244542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812280" y="4160520"/>
            <a:ext cx="4828032" cy="1691640"/>
          </a:xfrm>
          <a:prstGeom prst="roundRect">
            <a:avLst>
              <a:gd name="adj" fmla="val 3784"/>
            </a:avLst>
          </a:prstGeom>
          <a:solidFill>
            <a:srgbClr val="2A2A2D"/>
          </a:solidFill>
          <a:ln w="12700">
            <a:solidFill>
              <a:srgbClr val="2A2A2D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031736" y="4288536"/>
            <a:ext cx="438912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input → fixed bitstream duty cycle.
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shows periodic idle tones — expected for a DC input in a first-order 1-bit loop.
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Decimated output settles to a steady value — correct DC reconstruction.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DELTA-SIGMA ADC  —  MOCK INTER-IIT TECH MEET 15.0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with a Sinusoidal Input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0807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5" name="Image 0" descr="/mnt/user-data/uploads/591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5806440" cy="30737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148072"/>
            <a:ext cx="5806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input sine · bitstream · 1-bit output · reconstructed output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12280" y="1417320"/>
            <a:ext cx="4828032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8" name="Image 1" descr="/mnt/user-data/uploads/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527048"/>
            <a:ext cx="4608576" cy="24540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22008" y="3703320"/>
            <a:ext cx="46085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vs. log-frequency — same OSR = 128 sine test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812280" y="4160520"/>
            <a:ext cx="4828032" cy="1691640"/>
          </a:xfrm>
          <a:prstGeom prst="roundRect">
            <a:avLst>
              <a:gd name="adj" fmla="val 3784"/>
            </a:avLst>
          </a:prstGeom>
          <a:solidFill>
            <a:srgbClr val="2A2A2D"/>
          </a:solidFill>
          <a:ln w="12700">
            <a:solidFill>
              <a:srgbClr val="2A2A2D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031736" y="4288536"/>
            <a:ext cx="438912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output tracks the input sine’s shape and amplitude.
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log-frequency axis the noise floor climbs steadily toward fs/2 — first-order noise shaping, directly visible.
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tone stays clear of the shaped noise floor near DC.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DELTA-SIGMA ADC  —  MOCK INTER-IIT TECH MEET 15.0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Our Results Prove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73352"/>
            <a:ext cx="566928" cy="566928"/>
          </a:xfrm>
          <a:prstGeom prst="ellipse">
            <a:avLst/>
          </a:prstGeom>
          <a:solidFill>
            <a:srgbClr val="3F3F46"/>
          </a:solidFill>
          <a:ln/>
        </p:spPr>
      </p:sp>
      <p:pic>
        <p:nvPicPr>
          <p:cNvPr id="6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73" y="1747053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36776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Shaping — Confirmed in Practice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measured bitstream spectrum and the OSR-sweep SNR trend both match the |NTF(f)| = 2sin(πf/fs) prediction.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673352"/>
            <a:ext cx="566928" cy="566928"/>
          </a:xfrm>
          <a:prstGeom prst="ellipse">
            <a:avLst/>
          </a:prstGeom>
          <a:solidFill>
            <a:srgbClr val="3F3F46"/>
          </a:solidFill>
          <a:ln/>
        </p:spPr>
      </p:sp>
      <p:pic>
        <p:nvPicPr>
          <p:cNvPr id="11" name="Image 1" descr="/home/claude/icons/tre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373" y="174705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636776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DC and AC signals reconstruct correctly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37744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and sinusoidal test inputs are both recovered faithfully at the CIC filter output.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142232"/>
            <a:ext cx="566928" cy="566928"/>
          </a:xfrm>
          <a:prstGeom prst="ellipse">
            <a:avLst/>
          </a:prstGeom>
          <a:solidFill>
            <a:srgbClr val="3F3F46"/>
          </a:solidFill>
          <a:ln/>
        </p:spPr>
      </p:sp>
      <p:pic>
        <p:nvPicPr>
          <p:cNvPr id="16" name="Image 2" descr="/home/claude/icons/rad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373" y="4215933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105656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 limitation shows up honestly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8463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input produces idle tones / limit cycles — an expected first-order single-bit artifact, not a design flaw.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4142232"/>
            <a:ext cx="566928" cy="566928"/>
          </a:xfrm>
          <a:prstGeom prst="ellipse">
            <a:avLst/>
          </a:prstGeom>
          <a:solidFill>
            <a:srgbClr val="3F3F46"/>
          </a:solidFill>
          <a:ln/>
        </p:spPr>
      </p:sp>
      <p:pic>
        <p:nvPicPr>
          <p:cNvPr id="21" name="Image 3" descr="/home/claude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3373" y="4215933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105656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and simulation agree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37960" y="48463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ENOB (10.64 bits) and measured ENOB (10.92 bits) at OSR = 128 differ by only 0.3 bit.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DELTA-SIGMA ADC  —  MOCK INTER-IIT TECH MEET 15.0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Precision Sensor Interfaces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2A2A2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4864" cy="2011680"/>
          </a:xfrm>
          <a:prstGeom prst="roundRect">
            <a:avLst/>
          </a:prstGeom>
          <a:solidFill>
            <a:srgbClr val="F285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013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simplicity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 integrator, one comparator, and an inherently-linear 1-bit DAC — minimal analog to trust.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2A2A2D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600200"/>
            <a:ext cx="54864" cy="2011680"/>
          </a:xfrm>
          <a:prstGeom prst="roundRect">
            <a:avLst/>
          </a:prstGeom>
          <a:solidFill>
            <a:srgbClr val="F2853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013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component drift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33172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comes from oversampling + digital filtering, not tightly matched analog components.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2A2A2D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931920"/>
            <a:ext cx="54864" cy="2011680"/>
          </a:xfrm>
          <a:prstGeom prst="roundRect">
            <a:avLst/>
          </a:prstGeom>
          <a:solidFill>
            <a:srgbClr val="F2853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330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Multiplier-free hardware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66344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 filter uses only adders and delays — straightforward, low-power FPGA/ASIC realization.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393192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2A2A2D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3931920"/>
            <a:ext cx="54864" cy="2011680"/>
          </a:xfrm>
          <a:prstGeom prst="roundRect">
            <a:avLst/>
          </a:prstGeom>
          <a:solidFill>
            <a:srgbClr val="F2853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1330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is a dial, not a redesign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0" y="466344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ENOB against bandwidth purely via OSR / filter order — same analog topology throughout.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DELTA-SIGMA ADC  —  MOCK INTER-IIT TECH MEET 15.0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for Future Improvement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0100" y="2057400"/>
            <a:ext cx="0" cy="365760"/>
          </a:xfrm>
          <a:prstGeom prst="line">
            <a:avLst/>
          </a:prstGeom>
          <a:noFill/>
          <a:ln w="19050">
            <a:solidFill>
              <a:srgbClr val="D4D4D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280160" y="149047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/ MASH modulators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89320" y="1490472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 dB/decade shaping → same ENOB at lower OSR.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0100" y="2926080"/>
            <a:ext cx="0" cy="365760"/>
          </a:xfrm>
          <a:prstGeom prst="line">
            <a:avLst/>
          </a:prstGeom>
          <a:noFill/>
          <a:ln w="19050">
            <a:solidFill>
              <a:srgbClr val="D4D4D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280160" y="235915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Multi-bit quantizer + DEM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89320" y="2359152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quantization step, better stability margin.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0100" y="3794760"/>
            <a:ext cx="0" cy="365760"/>
          </a:xfrm>
          <a:prstGeom prst="line">
            <a:avLst/>
          </a:prstGeom>
          <a:noFill/>
          <a:ln w="19050">
            <a:solidFill>
              <a:srgbClr val="D4D4D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280160" y="322783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Continuous-time loop filter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89320" y="3227832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fs at lower power; inherent anti-aliasing.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0100" y="4663440"/>
            <a:ext cx="0" cy="365760"/>
          </a:xfrm>
          <a:prstGeom prst="line">
            <a:avLst/>
          </a:prstGeom>
          <a:noFill/>
          <a:ln w="19050">
            <a:solidFill>
              <a:srgbClr val="D4D4D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280160" y="409651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Chopping / auto-zeroing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89320" y="4096512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1/f noise &amp; offset for very low-bandwidth sensors.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F2853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9651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FPGA/ASIC RTL of the CIC filter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89320" y="4965192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Verilog/VHDL synthesis, hardware-in-the-loop verification against this MATLAB/Simulink model.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DELTA-SIGMA ADC  —  MOCK INTER-IIT TECH MEET 15.0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14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41248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41248" y="4023360"/>
            <a:ext cx="1920240" cy="0"/>
          </a:xfrm>
          <a:prstGeom prst="line">
            <a:avLst/>
          </a:prstGeom>
          <a:noFill/>
          <a:ln w="25400">
            <a:solidFill>
              <a:srgbClr val="F28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DELTA-SIGMA ADC  —  MOCK INTER-IIT TECH MEET 15.0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1499</Words>
  <Application>Microsoft Office PowerPoint</Application>
  <PresentationFormat>Widescreen</PresentationFormat>
  <Paragraphs>238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Vardhn Sharma</cp:lastModifiedBy>
  <cp:revision>1</cp:revision>
  <dcterms:created xsi:type="dcterms:W3CDTF">2026-07-19T16:45:09Z</dcterms:created>
  <dcterms:modified xsi:type="dcterms:W3CDTF">2026-07-19T16:48:16Z</dcterms:modified>
</cp:coreProperties>
</file>